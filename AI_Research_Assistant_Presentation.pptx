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4.png"/><Relationship Id="rId6" Type="http://schemas.openxmlformats.org/officeDocument/2006/relationships/image" Target="../media/image-8-4.png"/><Relationship Id="rId7" Type="http://schemas.openxmlformats.org/officeDocument/2006/relationships/image" Target="../media/image-8-3.png"/><Relationship Id="rId8" Type="http://schemas.openxmlformats.org/officeDocument/2006/relationships/image" Target="../media/image-8-3.png"/><Relationship Id="rId9" Type="http://schemas.openxmlformats.org/officeDocument/2006/relationships/image" Target="../media/image-8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6.png"/><Relationship Id="rId8" Type="http://schemas.openxmlformats.org/officeDocument/2006/relationships/image" Target="../media/image-11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1.png"/><Relationship Id="rId4" Type="http://schemas.openxmlformats.org/officeDocument/2006/relationships/image" Target="../media/image-14-2.png"/><Relationship Id="rId5" Type="http://schemas.openxmlformats.org/officeDocument/2006/relationships/image" Target="../media/image-14-1.png"/><Relationship Id="rId6" Type="http://schemas.openxmlformats.org/officeDocument/2006/relationships/image" Target="../media/image-14-2.png"/><Relationship Id="rId7" Type="http://schemas.openxmlformats.org/officeDocument/2006/relationships/image" Target="../media/image-14-1.png"/><Relationship Id="rId8" Type="http://schemas.openxmlformats.org/officeDocument/2006/relationships/image" Target="../media/image-14-2.png"/><Relationship Id="rId9" Type="http://schemas.openxmlformats.org/officeDocument/2006/relationships/image" Target="../media/image-14-1.png"/><Relationship Id="rId10" Type="http://schemas.openxmlformats.org/officeDocument/2006/relationships/image" Target="../media/image-14-2.png"/><Relationship Id="rId11" Type="http://schemas.openxmlformats.org/officeDocument/2006/relationships/image" Target="../media/image-14-1.png"/><Relationship Id="rId12" Type="http://schemas.openxmlformats.org/officeDocument/2006/relationships/image" Target="../media/image-14-2.png"/><Relationship Id="rId13" Type="http://schemas.openxmlformats.org/officeDocument/2006/relationships/image" Target="../media/image-14-1.png"/><Relationship Id="rId14" Type="http://schemas.openxmlformats.org/officeDocument/2006/relationships/image" Target="../media/image-14-2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515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5544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0574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25603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063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5486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10515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9281160" y="15544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9281160" y="20574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281160" y="25603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281160" y="3063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0" y="5486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10515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15544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20574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25603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3063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7000" y="5486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87000" y="10515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7000" y="15544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7000" y="20574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7000" y="25603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87000" y="3063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89920" y="5486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89920" y="10515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89920" y="15544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89920" y="20574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89920" y="25603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89920" y="3063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92840" y="5486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92840" y="10515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92840" y="15544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92840" y="20574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92840" y="25603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92840" y="3063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-1371600" y="3840480"/>
            <a:ext cx="5486400" cy="5486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9" name="Shape 37"/>
          <p:cNvSpPr/>
          <p:nvPr/>
        </p:nvSpPr>
        <p:spPr>
          <a:xfrm>
            <a:off x="-1371600" y="38404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/ TRAINING PROJECT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3232" y="1874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Research Assistant</a:t>
            </a:r>
            <a:endParaRPr lang="en-US" sz="4600" dirty="0"/>
          </a:p>
        </p:txBody>
      </p:sp>
      <p:sp>
        <p:nvSpPr>
          <p:cNvPr id="42" name="Text 40"/>
          <p:cNvSpPr/>
          <p:nvPr/>
        </p:nvSpPr>
        <p:spPr>
          <a:xfrm>
            <a:off x="731520" y="2880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Research Assistant Powered by RAG &amp; Multi-LLM Architecture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731520" y="502920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1663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Ahmed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 &amp; Artificial Intelligence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Department
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 Suef National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03" y="174138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0978" y="14904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50876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8218" y="141732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9386" y="161848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assets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282" y="174138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50557" y="14904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161178" y="150876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7797" y="141732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8965" y="161848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assets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860" y="174138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40135" y="14904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950757" y="150876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260604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280720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assets/icons/cpu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03" y="2930103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560978" y="2679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371600" y="269748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38218" y="260604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9386" y="280720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assets/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282" y="2930103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50557" y="2679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161178" y="269748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27797" y="260604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8965" y="280720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assets/icons/sear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860" y="2930103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140135" y="2679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950757" y="269748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548640" y="379476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6" name="Image 6" descr="/home/claude/assets/icons/bran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703" y="4118823"/>
            <a:ext cx="266273" cy="26627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560978" y="38679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371600" y="388620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&amp; Tools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4338218" y="379476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39386" y="399592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7" descr="/home/claude/assets/icons/messag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2282" y="4118823"/>
            <a:ext cx="266273" cy="26627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350557" y="38679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161178" y="388620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Multi-LLM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8127797" y="379476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328965" y="399592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6" name="Image 8" descr="/home/claude/assets/icons/activity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1860" y="4118823"/>
            <a:ext cx="266273" cy="26627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1140135" y="38679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8950757" y="388620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49" name="Shape 38"/>
          <p:cNvSpPr/>
          <p:nvPr/>
        </p:nvSpPr>
        <p:spPr>
          <a:xfrm>
            <a:off x="548640" y="498348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749808" y="518464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1" name="Image 9" descr="/home/claude/assets/icons/aler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703" y="5307543"/>
            <a:ext cx="266273" cy="266273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3560978" y="5056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1371600" y="507492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50" dirty="0"/>
          </a:p>
        </p:txBody>
      </p:sp>
      <p:sp>
        <p:nvSpPr>
          <p:cNvPr id="54" name="Shape 42"/>
          <p:cNvSpPr/>
          <p:nvPr/>
        </p:nvSpPr>
        <p:spPr>
          <a:xfrm>
            <a:off x="4338218" y="498348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4539386" y="518464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6" name="Image 10" descr="/home/claude/assets/icons/zap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2282" y="5307543"/>
            <a:ext cx="266273" cy="266273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7350557" y="5056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58" name="Text 45"/>
          <p:cNvSpPr/>
          <p:nvPr/>
        </p:nvSpPr>
        <p:spPr>
          <a:xfrm>
            <a:off x="5161178" y="507492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59" name="Shape 46"/>
          <p:cNvSpPr/>
          <p:nvPr/>
        </p:nvSpPr>
        <p:spPr>
          <a:xfrm>
            <a:off x="8127797" y="4983480"/>
            <a:ext cx="3515258" cy="914400"/>
          </a:xfrm>
          <a:prstGeom prst="roundRect">
            <a:avLst>
              <a:gd name="adj" fmla="val 9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60" name="Shape 47"/>
          <p:cNvSpPr/>
          <p:nvPr/>
        </p:nvSpPr>
        <p:spPr>
          <a:xfrm>
            <a:off x="8328965" y="518464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1" name="Image 11" descr="/home/claude/assets/icons/trend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1860" y="5307543"/>
            <a:ext cx="266273" cy="266273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11140135" y="5056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63" name="Text 49"/>
          <p:cNvSpPr/>
          <p:nvPr/>
        </p:nvSpPr>
        <p:spPr>
          <a:xfrm>
            <a:off x="8950757" y="5074920"/>
            <a:ext cx="25551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64" name="Text 5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65" name="Text 5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We Build This Project?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35040" cy="4709160"/>
          </a:xfrm>
          <a:prstGeom prst="roundRect">
            <a:avLst>
              <a:gd name="adj" fmla="val 1748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02336" cy="402336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assets/icons/alert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41" y="2245401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305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— confident but incorrect answers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2807208"/>
            <a:ext cx="402336" cy="402336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home/claude/assets/icons/refresh_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41" y="290376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788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knowledge frozen at training time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68680" y="3465576"/>
            <a:ext cx="402336" cy="402336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home/claude/assets/icons/lock_d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41" y="3562137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44728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private or local documents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68680" y="4123944"/>
            <a:ext cx="402336" cy="402336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/home/claude/assets/icons/help_de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41" y="4220505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1056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verify generated information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68680" y="4782312"/>
            <a:ext cx="402336" cy="402336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4" descr="/home/claude/assets/icons/file_dee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41" y="4878873"/>
            <a:ext cx="209215" cy="20921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7640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answer questions from local research papers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812280" y="1417320"/>
            <a:ext cx="4828032" cy="4709160"/>
          </a:xfrm>
          <a:prstGeom prst="roundRect">
            <a:avLst>
              <a:gd name="adj" fmla="val 174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7132320" y="173736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5" descr="/home/claude/assets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8383" y="1873423"/>
            <a:ext cx="294803" cy="29480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8181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7132320" y="251460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Assistant capable of answering questions directly from a local research knowledge base using Retrieval-Augmented Generation (RAG).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7132320" y="4343400"/>
            <a:ext cx="4206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132320" y="452628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AF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answers, verifiable sources, private knowledge — instead of relying on the model’s memory alone.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84778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8129" y="1828800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721" y="19933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302757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Research Assistant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53458" y="1508760"/>
            <a:ext cx="3484778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52948" y="1828800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home/claude/assets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540" y="19933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2058" y="2651760"/>
            <a:ext cx="302757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hallucinations using RAG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58277" y="1508760"/>
            <a:ext cx="3484778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557766" y="1828800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home/claude/assets/icons/f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358" y="199339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6877" y="2651760"/>
            <a:ext cx="302757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information from research papers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3484778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948129" y="4069080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/home/claude/assets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721" y="423367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892040"/>
            <a:ext cx="302757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AI models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53458" y="3749040"/>
            <a:ext cx="3484778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52948" y="4069080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/home/claude/assets/icons/bra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540" y="423367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82058" y="4892040"/>
            <a:ext cx="302757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 tool-based agent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58277" y="3749040"/>
            <a:ext cx="3484778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557766" y="4069080"/>
            <a:ext cx="685800" cy="6858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5" descr="/home/claude/assets/icons/messag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358" y="4233672"/>
            <a:ext cx="356616" cy="3566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86877" y="4892040"/>
            <a:ext cx="302757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modern conversational interface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06040" y="15087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606040" y="1508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2075688"/>
            <a:ext cx="0" cy="201168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06040" y="2276856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227685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843784"/>
            <a:ext cx="0" cy="201168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304495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04495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3611880"/>
            <a:ext cx="0" cy="201168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06040" y="381304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381304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4379976"/>
            <a:ext cx="0" cy="13716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4517136"/>
            <a:ext cx="5029200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4517136"/>
            <a:ext cx="0" cy="13716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-91440" y="4654296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E9EEF0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-91440" y="46542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66160" y="4517136"/>
            <a:ext cx="0" cy="13716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423160" y="4654296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E9EEF0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23160" y="46542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Generator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0760" y="4517136"/>
            <a:ext cx="0" cy="13716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37760" y="4654296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E9EEF0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46542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Recommendation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51560" y="5157216"/>
            <a:ext cx="0" cy="201168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" y="535838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" y="53583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51560" y="5925312"/>
            <a:ext cx="0" cy="18288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" y="610819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" y="61081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51560" y="6675120"/>
            <a:ext cx="0" cy="18288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440" y="68580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" y="68580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OpenRouter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51560" y="7424928"/>
            <a:ext cx="0" cy="18288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440" y="760780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F7A6B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" y="760780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63840" y="1508760"/>
            <a:ext cx="3794760" cy="6665976"/>
          </a:xfrm>
          <a:prstGeom prst="roundRect">
            <a:avLst>
              <a:gd name="adj" fmla="val 216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13816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138160" y="21579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20299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interacts through the Streamlit interface.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38160" y="302666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8366760" y="289864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LangGraph Agent decides which tool should handle the request.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38160" y="389534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376732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question needs document knowledge, it routes through the RAG pipeline.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138160" y="476402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463600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it calls the LLM directly.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icons/layou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2463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8218" y="1463040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6818" y="169164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assets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8123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6898" y="1719072"/>
            <a:ext cx="2463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66818" y="237744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6397" y="169164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assets/icons/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8123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96477" y="1719072"/>
            <a:ext cx="2463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56397" y="2377440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502152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73075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assets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85145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758184"/>
            <a:ext cx="2463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416552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ChromaDB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8218" y="3502152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66818" y="373075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assets/icons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3851453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6898" y="3758184"/>
            <a:ext cx="2463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66818" y="4416552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sentence-transformers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all-MiniLM-L6-v2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27797" y="3502152"/>
            <a:ext cx="3515258" cy="1783080"/>
          </a:xfrm>
          <a:prstGeom prst="roundRect">
            <a:avLst>
              <a:gd name="adj" fmla="val 461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6397" y="373075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assets/icons/z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385145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96477" y="3758184"/>
            <a:ext cx="2463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56397" y="4416552"/>
            <a:ext cx="30580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OpenRouter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— Research Paper Collection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uses a local knowledge base containing research papers about Artificial Intelligence, indexed into ChromaDB for semantic retrieval.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34640" y="24231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20640" y="242316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423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90672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906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834640" y="3090672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0906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20640" y="3090672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0906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5818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34640" y="3758184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75818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20640" y="3758184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75818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425696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E9EEF0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256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09560" y="1417320"/>
            <a:ext cx="3749040" cy="4709160"/>
          </a:xfrm>
          <a:prstGeom prst="roundRect">
            <a:avLst>
              <a:gd name="adj" fmla="val 219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0" descr="/home/claude/assets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5554" y="1823314"/>
            <a:ext cx="285293" cy="28529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82396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183880" y="2331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that stores and indexes document embeddings for fast semantic search.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183880" y="3291840"/>
            <a:ext cx="3200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83880" y="35753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29"/>
          <p:cNvSpPr/>
          <p:nvPr/>
        </p:nvSpPr>
        <p:spPr>
          <a:xfrm>
            <a:off x="8412480" y="34472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every research paper as vectors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183880" y="42336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/>
          <p:nvPr/>
        </p:nvSpPr>
        <p:spPr>
          <a:xfrm>
            <a:off x="8412480" y="410565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similarity search on each query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183880" y="48920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3"/>
          <p:cNvSpPr/>
          <p:nvPr/>
        </p:nvSpPr>
        <p:spPr>
          <a:xfrm>
            <a:off x="8412480" y="476402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most relevant document chunks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Embedding &amp; Vector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0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passage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80360" y="2560320"/>
            <a:ext cx="502920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16916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910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assets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19" y="21195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20440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15000" y="2560320"/>
            <a:ext cx="502920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17920" y="1691640"/>
            <a:ext cx="2331720" cy="1737360"/>
          </a:xfrm>
          <a:prstGeom prst="roundRect">
            <a:avLst>
              <a:gd name="adj" fmla="val 473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6374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/home/claude/assets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59" y="21195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743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55080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a vector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Embeddings?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22960" y="4617720"/>
            <a:ext cx="329184" cy="329184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/home/claude/assets/icons/check_de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4696724"/>
            <a:ext cx="171176" cy="171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5994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semantic (meaning-based) search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22960" y="5129784"/>
            <a:ext cx="329184" cy="329184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/home/claude/assets/icons/check_dee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5208788"/>
            <a:ext cx="171176" cy="171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51114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 even over large document sets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2960" y="5641848"/>
            <a:ext cx="329184" cy="329184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5" descr="/home/claude/assets/icons/check_dee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964" y="5720852"/>
            <a:ext cx="171176" cy="17117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80160" y="56235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similarity matching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21792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649224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Role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492240" y="4617720"/>
            <a:ext cx="329184" cy="32918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6" descr="/home/claude/assets/icons/datab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1244" y="4696724"/>
            <a:ext cx="171176" cy="17117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949440" y="45994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document embeddings persistently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6492240" y="5129784"/>
            <a:ext cx="329184" cy="32918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8" name="Image 7" descr="/home/claude/assets/icons/databas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1244" y="5208788"/>
            <a:ext cx="171176" cy="17117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949440" y="51114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semantic similarity search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6492240" y="5641848"/>
            <a:ext cx="329184" cy="32918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8" descr="/home/claude/assets/icons/databas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1244" y="5720852"/>
            <a:ext cx="171176" cy="17117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949440" y="5623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most relevant chunks to the agent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2396" y="190195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202265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719072" y="2189988"/>
            <a:ext cx="70066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789138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22894" y="1901952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assets/icons/uplo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595" y="202265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16570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959570" y="2189988"/>
            <a:ext cx="70066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029636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63392" y="190195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assets/icons/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093" y="202265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057068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200068" y="2189988"/>
            <a:ext cx="70066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270134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03890" y="1901952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assets/icons/cpu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591" y="202265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97566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440566" y="2189988"/>
            <a:ext cx="70066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510632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44388" y="190195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assets/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088" y="2022653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8064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681064" y="2189988"/>
            <a:ext cx="70066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6751130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084886" y="1901952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assets/icons/sear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586" y="202265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78562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7921562" y="2189988"/>
            <a:ext cx="70066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7991627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325383" y="190195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6" name="Image 6" descr="/home/claude/assets/icons/messag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6084" y="2022653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019059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9162059" y="2189988"/>
            <a:ext cx="70066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9232125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565881" y="1901952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7" descr="/home/claude/assets/icons/za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6582" y="2022653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59557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10402557" y="2189988"/>
            <a:ext cx="70066" cy="0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10472623" y="1737360"/>
            <a:ext cx="1170432" cy="1417320"/>
          </a:xfrm>
          <a:prstGeom prst="roundRect">
            <a:avLst>
              <a:gd name="adj" fmla="val 7031"/>
            </a:avLst>
          </a:prstGeom>
          <a:solidFill>
            <a:srgbClr val="0F7A6B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10806379" y="1901952"/>
            <a:ext cx="502920" cy="502920"/>
          </a:xfrm>
          <a:prstGeom prst="ellipse">
            <a:avLst/>
          </a:prstGeom>
          <a:solidFill>
            <a:srgbClr val="0F7A6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6" name="Image 8" descr="/home/claude/assets/icons/che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2022653"/>
            <a:ext cx="261518" cy="26151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0500055" y="251460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548640" y="3703320"/>
            <a:ext cx="11064240" cy="2423160"/>
          </a:xfrm>
          <a:prstGeom prst="roundRect">
            <a:avLst>
              <a:gd name="adj" fmla="val 339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49" name="Text 38"/>
          <p:cNvSpPr/>
          <p:nvPr/>
        </p:nvSpPr>
        <p:spPr>
          <a:xfrm>
            <a:off x="8686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Retrieve Before Generating?</a:t>
            </a:r>
            <a:endParaRPr lang="en-US" sz="1500" dirty="0"/>
          </a:p>
        </p:txBody>
      </p:sp>
      <p:sp>
        <p:nvSpPr>
          <p:cNvPr id="50" name="Text 39"/>
          <p:cNvSpPr/>
          <p:nvPr/>
        </p:nvSpPr>
        <p:spPr>
          <a:xfrm>
            <a:off x="868680" y="443484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the LLM directly, the pipeline first retrieves the most relevant document chunks from ChromaDB, then sends both the question and the retrieved context to the model — producing an answer grounded in real research papers instead of the model’s memory alone.</a:t>
            </a:r>
            <a:endParaRPr lang="en-US" sz="1350" dirty="0"/>
          </a:p>
        </p:txBody>
      </p:sp>
      <p:sp>
        <p:nvSpPr>
          <p:cNvPr id="51" name="Text 4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52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Agent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16002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Intent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2148840"/>
            <a:ext cx="0" cy="201168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508760" y="2350008"/>
            <a:ext cx="2651760" cy="914400"/>
          </a:xfrm>
          <a:prstGeom prst="diamond">
            <a:avLst/>
          </a:prstGeom>
          <a:solidFill>
            <a:srgbClr val="1C7293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08760" y="235000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to Use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0" y="3465576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34655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Selected Tool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4014216"/>
            <a:ext cx="0" cy="201168"/>
          </a:xfrm>
          <a:prstGeom prst="line">
            <a:avLst/>
          </a:prstGeom>
          <a:noFill/>
          <a:ln w="1905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645920" y="4215384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0F7A6B"/>
          </a:solidFill>
          <a:ln/>
          <a:effectLst>
            <a:outerShdw sx="100000" sy="100000" kx="0" ky="0" algn="bl" rotWithShape="0" blurRad="63500" dist="12700" dir="5400000">
              <a:srgbClr val="3A4A5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42153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Final Response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1600200"/>
            <a:ext cx="4480560" cy="777240"/>
          </a:xfrm>
          <a:prstGeom prst="roundRect">
            <a:avLst>
              <a:gd name="adj" fmla="val 10588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14032" y="176022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/home/claude/assets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86994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7266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Knowledge Base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26680" y="20025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grounded answers via RAG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60520" y="2807208"/>
            <a:ext cx="2788920" cy="-818388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949440" y="2697480"/>
            <a:ext cx="4480560" cy="777240"/>
          </a:xfrm>
          <a:prstGeom prst="roundRect">
            <a:avLst>
              <a:gd name="adj" fmla="val 10588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114032" y="28575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1" descr="/home/claude/assets/icons/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96722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72668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Models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726680" y="30998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ML models for a task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160520" y="2807208"/>
            <a:ext cx="2788920" cy="278892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6949440" y="3794760"/>
            <a:ext cx="4480560" cy="777240"/>
          </a:xfrm>
          <a:prstGeom prst="roundRect">
            <a:avLst>
              <a:gd name="adj" fmla="val 10588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114032" y="395478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2" descr="/home/claude/assets/icons/z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064508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72668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Project Ideas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7726680" y="41970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AI/ML project suggestions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160520" y="2807208"/>
            <a:ext cx="2788920" cy="1376172"/>
          </a:xfrm>
          <a:prstGeom prst="line">
            <a:avLst/>
          </a:prstGeom>
          <a:noFill/>
          <a:ln w="15875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2" name="Text 2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modular and extensible — new tools can be added without changing the core graph.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Memory &amp; Multi-LLM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663440"/>
          </a:xfrm>
          <a:prstGeom prst="roundRect">
            <a:avLst>
              <a:gd name="adj" fmla="val 1765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icons/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Memory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remembers previous messages in the conversation.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154680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home/claude/assets/icons/check_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3242462"/>
            <a:ext cx="190195" cy="1901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4553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follow-up answers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721608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home/claude/assets/icons/check_d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3809390"/>
            <a:ext cx="190195" cy="1901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1246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conversations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" y="4288536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/home/claude/assets/icons/check_de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" y="4376318"/>
            <a:ext cx="190195" cy="1901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2793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natural interactions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080760" y="1463040"/>
            <a:ext cx="5577840" cy="4663440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4" descr="/home/claude/assets/icons/refres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474" y="186903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18105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Multi-LLM Strategy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6720840" y="278892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23" name="Text 16"/>
          <p:cNvSpPr/>
          <p:nvPr/>
        </p:nvSpPr>
        <p:spPr>
          <a:xfrm>
            <a:off x="6720840" y="2788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(Primary)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823960" y="3086100"/>
            <a:ext cx="274320" cy="0"/>
          </a:xfrm>
          <a:prstGeom prst="line">
            <a:avLst/>
          </a:prstGeom>
          <a:noFill/>
          <a:ln w="19050">
            <a:solidFill>
              <a:srgbClr val="9FC3D1"/>
            </a:solidFill>
            <a:prstDash val="solid"/>
            <a:tailEnd type="triangle"/>
          </a:ln>
        </p:spPr>
      </p:sp>
      <p:sp>
        <p:nvSpPr>
          <p:cNvPr id="25" name="Text 18"/>
          <p:cNvSpPr/>
          <p:nvPr/>
        </p:nvSpPr>
        <p:spPr>
          <a:xfrm>
            <a:off x="8823960" y="2496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unavailable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9098280" y="278892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27" name="Text 20"/>
          <p:cNvSpPr/>
          <p:nvPr/>
        </p:nvSpPr>
        <p:spPr>
          <a:xfrm>
            <a:off x="9098280" y="27889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(Fallback)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720840" y="3794760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5" descr="/home/claude/assets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622" y="3882542"/>
            <a:ext cx="190195" cy="19019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23760" y="378561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availability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720840" y="4361688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6" descr="/home/claude/assets/icons/shiel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8622" y="4449470"/>
            <a:ext cx="190195" cy="19019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23760" y="435254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reliability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720840" y="4928616"/>
            <a:ext cx="365760" cy="36576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7" descr="/home/claude/assets/icons/shiel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8622" y="5016398"/>
            <a:ext cx="190195" cy="19019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223760" y="49194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fallback — no manual switching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Chat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/icons/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6294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270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Chat UI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342693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935224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assets/icons/layou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055925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953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648456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3" descr="/home/claude/assets/icons/hel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3769157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66674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4361688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/home/claude/assets/icons/refres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4482389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3799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Chat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5" descr="/home/claude/assets/icons/ale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5195621"/>
            <a:ext cx="261518" cy="26151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50932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548640" y="6035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simplicity and ease of use.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160520" y="1463040"/>
            <a:ext cx="7452360" cy="4892040"/>
          </a:xfrm>
          <a:prstGeom prst="roundRect">
            <a:avLst>
              <a:gd name="adj" fmla="val 1682"/>
            </a:avLst>
          </a:prstGeom>
          <a:solidFill>
            <a:srgbClr val="EDEFF1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pic>
        <p:nvPicPr>
          <p:cNvPr id="24" name="Image 6" descr="/home/claude/assets/s2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34840" y="1737360"/>
            <a:ext cx="6903720" cy="43434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4160520"/>
          </a:xfrm>
          <a:prstGeom prst="roundRect">
            <a:avLst>
              <a:gd name="adj" fmla="val 1978"/>
            </a:avLst>
          </a:prstGeom>
          <a:solidFill>
            <a:srgbClr val="EDEFF1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pic>
        <p:nvPicPr>
          <p:cNvPr id="5" name="Image 0" descr="/home/claude/assets/s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91640"/>
            <a:ext cx="105613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440680"/>
            <a:ext cx="10561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app response to "Explain BERT" — answer grounded in the local research knowledge base.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5806440"/>
            <a:ext cx="11109960" cy="6858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"Explain BERT"   •   "Explain RAG"   •   "Recommend models for sentiment analysis"   •   "Generate NLP project ideas"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0" cy="470916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1110996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975104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assets/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" y="2062886"/>
            <a:ext cx="190195" cy="1901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82880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quota limitations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975104"/>
            <a:ext cx="365760" cy="365760"/>
          </a:xfrm>
          <a:prstGeom prst="ellipse">
            <a:avLst/>
          </a:prstGeom>
          <a:solidFill>
            <a:srgbClr val="DCEEE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assets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02" y="2062886"/>
            <a:ext cx="190195" cy="1901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182880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fallback between Gemini and OpenRouter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2633472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/home/claude/assets/icons/ale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2721254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48716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17920" y="2633472"/>
            <a:ext cx="365760" cy="365760"/>
          </a:xfrm>
          <a:prstGeom prst="ellipse">
            <a:avLst/>
          </a:prstGeom>
          <a:solidFill>
            <a:srgbClr val="DCEEE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/home/claude/assets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702" y="2721254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248716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improved and tested prompts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145536"/>
            <a:ext cx="1110996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21" name="Shape 15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/home/claude/assets/icons/ale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" y="3379622"/>
            <a:ext cx="190195" cy="1901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14553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quality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DCEEE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5" descr="/home/claude/assets/icon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702" y="3379622"/>
            <a:ext cx="190195" cy="19019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14553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chunking strategy for cleaner context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85800" y="3950208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6" descr="/home/claude/assets/icons/aler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" y="4037990"/>
            <a:ext cx="190195" cy="19019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88720" y="380390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selection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217920" y="3950208"/>
            <a:ext cx="365760" cy="365760"/>
          </a:xfrm>
          <a:prstGeom prst="ellipse">
            <a:avLst/>
          </a:prstGeom>
          <a:solidFill>
            <a:srgbClr val="DCEEE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7" descr="/home/claude/assets/icons/che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702" y="4037990"/>
            <a:ext cx="190195" cy="19019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20840" y="380390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chunk size for retrieval accuracy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548640" y="4462272"/>
            <a:ext cx="1110996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34" name="Shape 24"/>
          <p:cNvSpPr/>
          <p:nvPr/>
        </p:nvSpPr>
        <p:spPr>
          <a:xfrm>
            <a:off x="685800" y="4608576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8" descr="/home/claude/assets/icons/alert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582" y="4696358"/>
            <a:ext cx="190195" cy="19019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188720" y="446227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integration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6217920" y="4608576"/>
            <a:ext cx="365760" cy="365760"/>
          </a:xfrm>
          <a:prstGeom prst="ellipse">
            <a:avLst/>
          </a:prstGeom>
          <a:solidFill>
            <a:srgbClr val="DCEEE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8" name="Image 9" descr="/home/claude/assets/icons/check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5702" y="4696358"/>
            <a:ext cx="190195" cy="19019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720840" y="446227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interface across providers</a:t>
            </a:r>
            <a:endParaRPr lang="en-US" sz="1200" dirty="0"/>
          </a:p>
        </p:txBody>
      </p:sp>
      <p:sp>
        <p:nvSpPr>
          <p:cNvPr id="40" name="Shape 28"/>
          <p:cNvSpPr/>
          <p:nvPr/>
        </p:nvSpPr>
        <p:spPr>
          <a:xfrm>
            <a:off x="685800" y="5266944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10" descr="/home/claude/assets/icons/alert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3582" y="5354726"/>
            <a:ext cx="190195" cy="190195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188720" y="512064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6217920" y="5266944"/>
            <a:ext cx="365760" cy="365760"/>
          </a:xfrm>
          <a:prstGeom prst="ellipse">
            <a:avLst/>
          </a:prstGeom>
          <a:solidFill>
            <a:srgbClr val="DCEEE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4" name="Image 11" descr="/home/claude/assets/icons/check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5702" y="5354726"/>
            <a:ext cx="190195" cy="190195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720840" y="512064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memory into the agent state</a:t>
            </a:r>
            <a:endParaRPr lang="en-US" sz="1200" dirty="0"/>
          </a:p>
        </p:txBody>
      </p:sp>
      <p:sp>
        <p:nvSpPr>
          <p:cNvPr id="46" name="Shape 32"/>
          <p:cNvSpPr/>
          <p:nvPr/>
        </p:nvSpPr>
        <p:spPr>
          <a:xfrm>
            <a:off x="548640" y="5779008"/>
            <a:ext cx="1110996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47" name="Shape 33"/>
          <p:cNvSpPr/>
          <p:nvPr/>
        </p:nvSpPr>
        <p:spPr>
          <a:xfrm>
            <a:off x="685800" y="5925312"/>
            <a:ext cx="365760" cy="365760"/>
          </a:xfrm>
          <a:prstGeom prst="ellipse">
            <a:avLst/>
          </a:prstGeom>
          <a:solidFill>
            <a:srgbClr val="E9EEF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8" name="Image 12" descr="/home/claude/assets/icons/alert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582" y="6013094"/>
            <a:ext cx="190195" cy="190195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188720" y="577900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 protection</a:t>
            </a:r>
            <a:endParaRPr lang="en-US" sz="1200" dirty="0"/>
          </a:p>
        </p:txBody>
      </p:sp>
      <p:sp>
        <p:nvSpPr>
          <p:cNvPr id="50" name="Shape 35"/>
          <p:cNvSpPr/>
          <p:nvPr/>
        </p:nvSpPr>
        <p:spPr>
          <a:xfrm>
            <a:off x="6217920" y="5925312"/>
            <a:ext cx="365760" cy="365760"/>
          </a:xfrm>
          <a:prstGeom prst="ellipse">
            <a:avLst/>
          </a:prstGeom>
          <a:solidFill>
            <a:srgbClr val="DCEEE9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1" name="Image 13" descr="/home/claude/assets/icons/check_nav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5702" y="6013094"/>
            <a:ext cx="190195" cy="190195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720840" y="577900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management via .env</a:t>
            </a:r>
            <a:endParaRPr lang="en-US" sz="1200" dirty="0"/>
          </a:p>
        </p:txBody>
      </p:sp>
      <p:sp>
        <p:nvSpPr>
          <p:cNvPr id="53" name="Text 3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54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3178" y="187452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40" y="20105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5176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13243" y="160020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47781" y="187452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home/claude/assets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843" y="201058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22971" y="265176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77846" y="160020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12384" y="187452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home/claude/assets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446" y="201058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87574" y="265176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342449" y="160020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76987" y="187452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/home/claude/assets/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049" y="201058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177" y="265176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Integration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607052" y="160020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341590" y="187452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/home/claude/assets/icons/uplo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652" y="2010583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16780" y="265176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379476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283178" y="406908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5" descr="/home/claude/assets/icons/mic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9240" y="4205143"/>
            <a:ext cx="294803" cy="29480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" y="484632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2813243" y="379476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547781" y="406908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6" descr="/home/claude/assets/icons/lo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3843" y="4205143"/>
            <a:ext cx="294803" cy="29480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922971" y="484632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077846" y="379476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812384" y="406908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7" descr="/home/claude/assets/icons/box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8446" y="4205143"/>
            <a:ext cx="294803" cy="29480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87574" y="484632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7342449" y="379476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076987" y="406908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8" name="Image 8" descr="/home/claude/assets/icons/layers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3049" y="4205143"/>
            <a:ext cx="294803" cy="29480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52177" y="484632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Packaging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9607052" y="3794760"/>
            <a:ext cx="2036003" cy="1920240"/>
          </a:xfrm>
          <a:prstGeom prst="roundRect">
            <a:avLst>
              <a:gd name="adj" fmla="val 4286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25400" dir="5400000">
              <a:srgbClr val="3A4A55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10341590" y="406908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2" name="Image 9" descr="/home/claude/assets/icons/trend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7652" y="4205143"/>
            <a:ext cx="294803" cy="294803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716780" y="4846320"/>
            <a:ext cx="1816547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Analytics</a:t>
            </a:r>
            <a:endParaRPr lang="en-US" sz="1150" dirty="0"/>
          </a:p>
        </p:txBody>
      </p:sp>
      <p:sp>
        <p:nvSpPr>
          <p:cNvPr id="44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5486400" cy="5486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3716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successfully built an AI-powered Research Assistant that: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0061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87452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Retrieval-Augmented Generation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assets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401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10248" y="187452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knowledge from research papers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home/claude/assets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01203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88036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78728" y="288036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home/claude/assets/icons/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401" y="301203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10248" y="288036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LLM providers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4" descr="/home/claude/assets/icons/messa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88620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conversation memory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278728" y="388620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5" descr="/home/claude/assets/icons/bran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401" y="4017874"/>
            <a:ext cx="285293" cy="28529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10248" y="388620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intelligent tool-based reasoning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integration of modern AI technologies — RAG, agentic orchestration, and multi-LLM reliability — into a practical, scalable application.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949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9436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2179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92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53949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56692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59436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62179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6492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53949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56692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59436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62179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554480" y="6492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53949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56692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59436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62179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6492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0" y="53949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56692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2560320" y="59436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0320" y="62179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2560320" y="6492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3063240" y="53949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3063240" y="566928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3063240" y="59436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3063240" y="62179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3063240" y="64922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3" name="Shape 3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749808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49808" y="429768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Ahmed  •  AI Research Assistant  •  Beni Suef National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2026-08-02T10:17:33Z</dcterms:created>
  <dcterms:modified xsi:type="dcterms:W3CDTF">2026-08-02T10:17:33Z</dcterms:modified>
</cp:coreProperties>
</file>